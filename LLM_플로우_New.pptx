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139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56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103">
            <a:extLst>
              <a:ext uri="{FF2B5EF4-FFF2-40B4-BE49-F238E27FC236}">
                <a16:creationId xmlns:a16="http://schemas.microsoft.com/office/drawing/2014/main" id="{1091B237-8911-9348-0D85-EC69C20EEC6F}"/>
              </a:ext>
            </a:extLst>
          </p:cNvPr>
          <p:cNvSpPr/>
          <p:nvPr/>
        </p:nvSpPr>
        <p:spPr>
          <a:xfrm>
            <a:off x="169545" y="863367"/>
            <a:ext cx="1430655" cy="3474720"/>
          </a:xfrm>
          <a:prstGeom prst="rect">
            <a:avLst/>
          </a:prstGeom>
          <a:solidFill>
            <a:srgbClr val="F4F4F6"/>
          </a:solidFill>
          <a:ln w="6350">
            <a:solidFill>
              <a:srgbClr val="BBBB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275" name="Shape 104">
            <a:extLst>
              <a:ext uri="{FF2B5EF4-FFF2-40B4-BE49-F238E27FC236}">
                <a16:creationId xmlns:a16="http://schemas.microsoft.com/office/drawing/2014/main" id="{FC2B408B-7508-6848-8A28-77640CE6E3DF}"/>
              </a:ext>
            </a:extLst>
          </p:cNvPr>
          <p:cNvSpPr/>
          <p:nvPr/>
        </p:nvSpPr>
        <p:spPr>
          <a:xfrm>
            <a:off x="169545" y="880893"/>
            <a:ext cx="1430655" cy="274320"/>
          </a:xfrm>
          <a:prstGeom prst="rect">
            <a:avLst/>
          </a:prstGeom>
          <a:solidFill>
            <a:srgbClr val="E4E4EA"/>
          </a:solidFill>
          <a:ln w="6350">
            <a:solidFill>
              <a:srgbClr val="BBBBC4"/>
            </a:solidFill>
            <a:prstDash val="solid"/>
          </a:ln>
        </p:spPr>
        <p:txBody>
          <a:bodyPr/>
          <a:lstStyle/>
          <a:p>
            <a:endParaRPr lang="ko-KR" altLang="en-US" sz="1000" dirty="0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276" name="Text 105">
            <a:extLst>
              <a:ext uri="{FF2B5EF4-FFF2-40B4-BE49-F238E27FC236}">
                <a16:creationId xmlns:a16="http://schemas.microsoft.com/office/drawing/2014/main" id="{9307DDD6-727D-5125-BBC7-6C59C736A7E6}"/>
              </a:ext>
            </a:extLst>
          </p:cNvPr>
          <p:cNvSpPr/>
          <p:nvPr/>
        </p:nvSpPr>
        <p:spPr>
          <a:xfrm>
            <a:off x="242697" y="880893"/>
            <a:ext cx="1331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latin typeface="Rix락-Sans Medium" panose="00000600000000000000" pitchFamily="2" charset="-127"/>
                <a:ea typeface="Rix락-Sans Medium" panose="00000600000000000000" pitchFamily="2" charset="-127"/>
                <a:cs typeface="Rix락-Sans Medium" pitchFamily="34" charset="-120"/>
              </a:rPr>
              <a:t>입력 </a:t>
            </a:r>
            <a:r>
              <a:rPr lang="en-US" altLang="ko-KR" sz="900" dirty="0">
                <a:latin typeface="Rix락-Sans Medium" panose="00000600000000000000" pitchFamily="2" charset="-127"/>
                <a:ea typeface="Rix락-Sans Medium" panose="00000600000000000000" pitchFamily="2" charset="-127"/>
                <a:cs typeface="Rix락-Sans Medium" pitchFamily="34" charset="-120"/>
              </a:rPr>
              <a:t>· </a:t>
            </a:r>
            <a:r>
              <a:rPr lang="ko-KR" altLang="en-US" sz="900" dirty="0">
                <a:latin typeface="Rix락-Sans Medium" panose="00000600000000000000" pitchFamily="2" charset="-127"/>
                <a:ea typeface="Rix락-Sans Medium" panose="00000600000000000000" pitchFamily="2" charset="-127"/>
                <a:cs typeface="Rix락-Sans Medium" pitchFamily="34" charset="-120"/>
              </a:rPr>
              <a:t>트리거 </a:t>
            </a:r>
            <a:endParaRPr lang="en-US" sz="900" dirty="0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2E2E38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ko-KR" altLang="en-US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" y="1828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Rix락-Sans Medium" panose="00000600000000000000" pitchFamily="2" charset="-127"/>
                <a:ea typeface="Rix락-Sans Medium" panose="00000600000000000000" pitchFamily="2" charset="-127"/>
                <a:cs typeface="Rix락-Sans Medium" pitchFamily="34" charset="-120"/>
              </a:rPr>
              <a:t>LLM 기반 업무 효율화 — 시스템 플로우</a:t>
            </a:r>
            <a:endParaRPr lang="en-US" sz="1600" dirty="0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76AFBE9B-AD1B-58A5-A74B-FE878DA562BC}"/>
              </a:ext>
            </a:extLst>
          </p:cNvPr>
          <p:cNvGrpSpPr/>
          <p:nvPr/>
        </p:nvGrpSpPr>
        <p:grpSpPr>
          <a:xfrm>
            <a:off x="402336" y="1243584"/>
            <a:ext cx="1097280" cy="702000"/>
            <a:chOff x="502920" y="859536"/>
            <a:chExt cx="1097280" cy="702000"/>
          </a:xfrm>
        </p:grpSpPr>
        <p:sp>
          <p:nvSpPr>
            <p:cNvPr id="7" name="Shape 5"/>
            <p:cNvSpPr/>
            <p:nvPr/>
          </p:nvSpPr>
          <p:spPr>
            <a:xfrm>
              <a:off x="502920" y="859536"/>
              <a:ext cx="1097280" cy="70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02920" y="859536"/>
              <a:ext cx="36576" cy="702000"/>
            </a:xfrm>
            <a:prstGeom prst="rect">
              <a:avLst/>
            </a:prstGeom>
            <a:solidFill>
              <a:srgbClr val="5B7DB8"/>
            </a:solidFill>
            <a:ln w="6350">
              <a:solidFill>
                <a:srgbClr val="5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502920" y="859536"/>
              <a:ext cx="1097280" cy="201168"/>
            </a:xfrm>
            <a:prstGeom prst="rect">
              <a:avLst/>
            </a:prstGeom>
            <a:solidFill>
              <a:srgbClr val="E6E6EA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02920" y="859536"/>
              <a:ext cx="36576" cy="201168"/>
            </a:xfrm>
            <a:prstGeom prst="rect">
              <a:avLst/>
            </a:prstGeom>
            <a:solidFill>
              <a:srgbClr val="5B7DB8"/>
            </a:solidFill>
            <a:ln w="6350">
              <a:solidFill>
                <a:srgbClr val="5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94360" y="859536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2A2A32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유저</a:t>
              </a:r>
              <a:endParaRPr lang="en-US" sz="8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71500" y="1088136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71500" y="1088136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Slack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71500" y="1243584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71500" y="1243584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Claude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571500" y="1399032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571500" y="1399032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ChatGPT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1E220636-1C88-4A5E-21C6-3663704DA472}"/>
              </a:ext>
            </a:extLst>
          </p:cNvPr>
          <p:cNvGrpSpPr/>
          <p:nvPr/>
        </p:nvGrpSpPr>
        <p:grpSpPr>
          <a:xfrm>
            <a:off x="402336" y="2250744"/>
            <a:ext cx="1097280" cy="548640"/>
            <a:chOff x="502920" y="2048256"/>
            <a:chExt cx="1097280" cy="548640"/>
          </a:xfrm>
        </p:grpSpPr>
        <p:sp>
          <p:nvSpPr>
            <p:cNvPr id="18" name="Shape 16"/>
            <p:cNvSpPr/>
            <p:nvPr/>
          </p:nvSpPr>
          <p:spPr>
            <a:xfrm>
              <a:off x="502920" y="2048256"/>
              <a:ext cx="1097280" cy="5486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02920" y="2048256"/>
              <a:ext cx="36576" cy="547200"/>
            </a:xfrm>
            <a:prstGeom prst="rect">
              <a:avLst/>
            </a:prstGeom>
            <a:solidFill>
              <a:srgbClr val="B08830"/>
            </a:solidFill>
            <a:ln w="6350">
              <a:solidFill>
                <a:srgbClr val="B0883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502920" y="2048256"/>
              <a:ext cx="1097280" cy="201168"/>
            </a:xfrm>
            <a:prstGeom prst="rect">
              <a:avLst/>
            </a:prstGeom>
            <a:solidFill>
              <a:srgbClr val="E6E6EA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502920" y="2048256"/>
              <a:ext cx="36576" cy="216000"/>
            </a:xfrm>
            <a:prstGeom prst="rect">
              <a:avLst/>
            </a:prstGeom>
            <a:solidFill>
              <a:srgbClr val="B08830"/>
            </a:solidFill>
            <a:ln w="6350">
              <a:solidFill>
                <a:srgbClr val="B0883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594360" y="2048256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2A2A32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스케줄러</a:t>
              </a:r>
              <a:endParaRPr lang="en-US" sz="8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571500" y="2276856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571500" y="2276856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 err="1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주기</a:t>
              </a:r>
              <a:r>
                <a:rPr lang="en-US" altLang="ko-KR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· </a:t>
              </a: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내용</a:t>
              </a: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설정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571500" y="2432304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571500" y="2432304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일별 · 주별 · 월별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sp>
        <p:nvSpPr>
          <p:cNvPr id="36" name="Shape 34"/>
          <p:cNvSpPr/>
          <p:nvPr/>
        </p:nvSpPr>
        <p:spPr>
          <a:xfrm>
            <a:off x="2368297" y="1817064"/>
            <a:ext cx="3813810" cy="1860217"/>
          </a:xfrm>
          <a:prstGeom prst="rect">
            <a:avLst/>
          </a:prstGeom>
          <a:noFill/>
          <a:ln w="6350">
            <a:solidFill>
              <a:srgbClr val="303038"/>
            </a:solidFill>
            <a:prstDash val="solid"/>
          </a:ln>
        </p:spPr>
        <p:txBody>
          <a:bodyPr/>
          <a:lstStyle/>
          <a:p>
            <a:endParaRPr lang="ko-KR" altLang="en-US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368297" y="1817064"/>
            <a:ext cx="23795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Rix락-Sans Medium" panose="00000600000000000000" pitchFamily="2" charset="-127"/>
                <a:ea typeface="Rix락-Sans Medium" panose="00000600000000000000" pitchFamily="2" charset="-127"/>
                <a:cs typeface="Rix락-Sans Medium" pitchFamily="34" charset="-120"/>
              </a:rPr>
              <a:t>    LLM</a:t>
            </a:r>
            <a:endParaRPr lang="en-US" sz="900" dirty="0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EC1E67F-E49F-FBC3-80AD-62962BD6B800}"/>
              </a:ext>
            </a:extLst>
          </p:cNvPr>
          <p:cNvGrpSpPr/>
          <p:nvPr/>
        </p:nvGrpSpPr>
        <p:grpSpPr>
          <a:xfrm>
            <a:off x="4969519" y="2762604"/>
            <a:ext cx="1080000" cy="806400"/>
            <a:chOff x="3822192" y="2624328"/>
            <a:chExt cx="1527048" cy="806400"/>
          </a:xfrm>
        </p:grpSpPr>
        <p:sp>
          <p:nvSpPr>
            <p:cNvPr id="79" name="Shape 77"/>
            <p:cNvSpPr/>
            <p:nvPr/>
          </p:nvSpPr>
          <p:spPr>
            <a:xfrm>
              <a:off x="3822192" y="2624328"/>
              <a:ext cx="1527048" cy="806400"/>
            </a:xfrm>
            <a:prstGeom prst="rect">
              <a:avLst/>
            </a:prstGeom>
            <a:solidFill>
              <a:srgbClr val="383842"/>
            </a:solidFill>
            <a:ln w="6350">
              <a:solidFill>
                <a:srgbClr val="4848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0" name="Shape 78"/>
            <p:cNvSpPr/>
            <p:nvPr/>
          </p:nvSpPr>
          <p:spPr>
            <a:xfrm>
              <a:off x="3822192" y="2624328"/>
              <a:ext cx="32004" cy="806400"/>
            </a:xfrm>
            <a:prstGeom prst="rect">
              <a:avLst/>
            </a:prstGeom>
            <a:solidFill>
              <a:srgbClr val="B08830"/>
            </a:solidFill>
            <a:ln w="6350">
              <a:solidFill>
                <a:srgbClr val="B0883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3895344" y="2624328"/>
              <a:ext cx="1440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 err="1">
                  <a:solidFill>
                    <a:srgbClr val="FFFFF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보고서</a:t>
              </a:r>
              <a:endParaRPr lang="en-US" sz="8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3881628" y="2802636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3" name="Text 81"/>
            <p:cNvSpPr/>
            <p:nvPr/>
          </p:nvSpPr>
          <p:spPr>
            <a:xfrm>
              <a:off x="3881628" y="2802636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일간 보고 </a:t>
              </a: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(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개인</a:t>
              </a: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/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조직</a:t>
              </a: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)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4" name="Shape 82"/>
            <p:cNvSpPr/>
            <p:nvPr/>
          </p:nvSpPr>
          <p:spPr>
            <a:xfrm>
              <a:off x="3881628" y="2926080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3881628" y="2926080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주간 보고 </a:t>
              </a: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(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개인</a:t>
              </a: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/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조직</a:t>
              </a: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)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 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6" name="Shape 84"/>
            <p:cNvSpPr/>
            <p:nvPr/>
          </p:nvSpPr>
          <p:spPr>
            <a:xfrm>
              <a:off x="3881628" y="3049524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7" name="Text 85"/>
            <p:cNvSpPr/>
            <p:nvPr/>
          </p:nvSpPr>
          <p:spPr>
            <a:xfrm>
              <a:off x="3881628" y="3049524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지연 알림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8" name="Shape 86"/>
            <p:cNvSpPr/>
            <p:nvPr/>
          </p:nvSpPr>
          <p:spPr>
            <a:xfrm>
              <a:off x="3881628" y="3172968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3881628" y="3172968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일정 마감 알림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0" name="Shape 88"/>
            <p:cNvSpPr/>
            <p:nvPr/>
          </p:nvSpPr>
          <p:spPr>
            <a:xfrm>
              <a:off x="3881628" y="3296412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1" name="Text 89"/>
            <p:cNvSpPr/>
            <p:nvPr/>
          </p:nvSpPr>
          <p:spPr>
            <a:xfrm>
              <a:off x="3881628" y="3296412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…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521F41E-2136-FE31-FD64-4C9A73CF1A2E}"/>
              </a:ext>
            </a:extLst>
          </p:cNvPr>
          <p:cNvGrpSpPr/>
          <p:nvPr/>
        </p:nvGrpSpPr>
        <p:grpSpPr>
          <a:xfrm>
            <a:off x="3845545" y="2879496"/>
            <a:ext cx="1080000" cy="685800"/>
            <a:chOff x="3822192" y="3602736"/>
            <a:chExt cx="1527048" cy="685800"/>
          </a:xfrm>
        </p:grpSpPr>
        <p:sp>
          <p:nvSpPr>
            <p:cNvPr id="94" name="Shape 92"/>
            <p:cNvSpPr/>
            <p:nvPr/>
          </p:nvSpPr>
          <p:spPr>
            <a:xfrm>
              <a:off x="3822192" y="3602736"/>
              <a:ext cx="1527048" cy="685800"/>
            </a:xfrm>
            <a:prstGeom prst="rect">
              <a:avLst/>
            </a:prstGeom>
            <a:solidFill>
              <a:srgbClr val="383842"/>
            </a:solidFill>
            <a:ln w="6350">
              <a:solidFill>
                <a:srgbClr val="4848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5" name="Shape 93"/>
            <p:cNvSpPr/>
            <p:nvPr/>
          </p:nvSpPr>
          <p:spPr>
            <a:xfrm>
              <a:off x="3822192" y="3602736"/>
              <a:ext cx="32004" cy="685800"/>
            </a:xfrm>
            <a:prstGeom prst="rect">
              <a:avLst/>
            </a:prstGeom>
            <a:solidFill>
              <a:srgbClr val="4A9070"/>
            </a:solidFill>
            <a:ln w="6350">
              <a:solidFill>
                <a:srgbClr val="4A907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6" name="Text 94"/>
            <p:cNvSpPr/>
            <p:nvPr/>
          </p:nvSpPr>
          <p:spPr>
            <a:xfrm>
              <a:off x="3895344" y="3602736"/>
              <a:ext cx="1440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 err="1">
                  <a:solidFill>
                    <a:srgbClr val="FFFFF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회의록</a:t>
              </a:r>
              <a:endParaRPr lang="en-US" sz="8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7" name="Shape 95"/>
            <p:cNvSpPr/>
            <p:nvPr/>
          </p:nvSpPr>
          <p:spPr>
            <a:xfrm>
              <a:off x="3881628" y="3781044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8" name="Text 96"/>
            <p:cNvSpPr/>
            <p:nvPr/>
          </p:nvSpPr>
          <p:spPr>
            <a:xfrm>
              <a:off x="3881628" y="3781044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err="1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회의록</a:t>
              </a: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요약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99" name="Shape 97"/>
            <p:cNvSpPr/>
            <p:nvPr/>
          </p:nvSpPr>
          <p:spPr>
            <a:xfrm>
              <a:off x="3881628" y="3904488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00" name="Text 98"/>
            <p:cNvSpPr/>
            <p:nvPr/>
          </p:nvSpPr>
          <p:spPr>
            <a:xfrm>
              <a:off x="3881628" y="3904488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Task 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생성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01" name="Shape 99"/>
            <p:cNvSpPr/>
            <p:nvPr/>
          </p:nvSpPr>
          <p:spPr>
            <a:xfrm>
              <a:off x="3881628" y="4027932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02" name="Text 100"/>
            <p:cNvSpPr/>
            <p:nvPr/>
          </p:nvSpPr>
          <p:spPr>
            <a:xfrm>
              <a:off x="3881628" y="4027932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 err="1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침석자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공유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03" name="Shape 101"/>
            <p:cNvSpPr/>
            <p:nvPr/>
          </p:nvSpPr>
          <p:spPr>
            <a:xfrm>
              <a:off x="3881628" y="4151376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04" name="Text 102"/>
            <p:cNvSpPr/>
            <p:nvPr/>
          </p:nvSpPr>
          <p:spPr>
            <a:xfrm>
              <a:off x="3881628" y="4151376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…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sp>
        <p:nvSpPr>
          <p:cNvPr id="105" name="Shape 103"/>
          <p:cNvSpPr/>
          <p:nvPr/>
        </p:nvSpPr>
        <p:spPr>
          <a:xfrm>
            <a:off x="6775704" y="842010"/>
            <a:ext cx="2103120" cy="3474720"/>
          </a:xfrm>
          <a:prstGeom prst="rect">
            <a:avLst/>
          </a:prstGeom>
          <a:solidFill>
            <a:srgbClr val="F4F4F6"/>
          </a:solidFill>
          <a:ln w="6350">
            <a:solidFill>
              <a:srgbClr val="BBBB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6775704" y="859536"/>
            <a:ext cx="2103120" cy="274320"/>
          </a:xfrm>
          <a:prstGeom prst="rect">
            <a:avLst/>
          </a:prstGeom>
          <a:solidFill>
            <a:srgbClr val="E4E4EA"/>
          </a:solidFill>
          <a:ln w="6350">
            <a:solidFill>
              <a:srgbClr val="BBBBC4"/>
            </a:solidFill>
            <a:prstDash val="solid"/>
          </a:ln>
        </p:spPr>
        <p:txBody>
          <a:bodyPr/>
          <a:lstStyle/>
          <a:p>
            <a:endParaRPr lang="ko-KR" altLang="en-US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6848856" y="85953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A2A32"/>
                </a:solidFill>
                <a:latin typeface="Rix락-Sans Medium" panose="00000600000000000000" pitchFamily="2" charset="-127"/>
                <a:ea typeface="Rix락-Sans Medium" panose="00000600000000000000" pitchFamily="2" charset="-127"/>
                <a:cs typeface="Rix락-Sans Medium" pitchFamily="34" charset="-120"/>
              </a:rPr>
              <a:t>연동 플랫폼</a:t>
            </a:r>
            <a:endParaRPr lang="en-US" sz="900" dirty="0">
              <a:latin typeface="Rix락-Sans Medium" panose="00000600000000000000" pitchFamily="2" charset="-127"/>
              <a:ea typeface="Rix락-Sans Medium" panose="00000600000000000000" pitchFamily="2" charset="-127"/>
            </a:endParaRPr>
          </a:p>
        </p:txBody>
      </p:sp>
      <p:grpSp>
        <p:nvGrpSpPr>
          <p:cNvPr id="233" name="그룹 232">
            <a:extLst>
              <a:ext uri="{FF2B5EF4-FFF2-40B4-BE49-F238E27FC236}">
                <a16:creationId xmlns:a16="http://schemas.microsoft.com/office/drawing/2014/main" id="{B2BC5B5D-4597-EFE6-BA16-A1044A8E95B5}"/>
              </a:ext>
            </a:extLst>
          </p:cNvPr>
          <p:cNvGrpSpPr/>
          <p:nvPr/>
        </p:nvGrpSpPr>
        <p:grpSpPr>
          <a:xfrm>
            <a:off x="402336" y="3058668"/>
            <a:ext cx="1115568" cy="694944"/>
            <a:chOff x="502920" y="3236976"/>
            <a:chExt cx="1115568" cy="694944"/>
          </a:xfrm>
        </p:grpSpPr>
        <p:sp>
          <p:nvSpPr>
            <p:cNvPr id="27" name="Shape 25"/>
            <p:cNvSpPr/>
            <p:nvPr/>
          </p:nvSpPr>
          <p:spPr>
            <a:xfrm>
              <a:off x="502920" y="3236976"/>
              <a:ext cx="1097280" cy="54158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502920" y="3236976"/>
              <a:ext cx="36576" cy="540000"/>
            </a:xfrm>
            <a:prstGeom prst="rect">
              <a:avLst/>
            </a:prstGeom>
            <a:solidFill>
              <a:srgbClr val="4A9070"/>
            </a:solidFill>
            <a:ln w="6350">
              <a:solidFill>
                <a:srgbClr val="4A907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502920" y="3236976"/>
              <a:ext cx="1097280" cy="201168"/>
            </a:xfrm>
            <a:prstGeom prst="rect">
              <a:avLst/>
            </a:prstGeom>
            <a:solidFill>
              <a:srgbClr val="E6E6EA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502920" y="3236976"/>
              <a:ext cx="36576" cy="201168"/>
            </a:xfrm>
            <a:prstGeom prst="rect">
              <a:avLst/>
            </a:prstGeom>
            <a:solidFill>
              <a:srgbClr val="4A9070"/>
            </a:solidFill>
            <a:ln w="6350">
              <a:solidFill>
                <a:srgbClr val="4A907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594360" y="3236976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2A2A32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회의록 녹음</a:t>
              </a:r>
              <a:endParaRPr lang="en-US" sz="8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571500" y="3465576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571500" y="3465576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파일 업로드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71500" y="3621024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571500" y="3621024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실시간 스트리밍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55" name="Text 153"/>
            <p:cNvSpPr/>
            <p:nvPr/>
          </p:nvSpPr>
          <p:spPr>
            <a:xfrm>
              <a:off x="1545336" y="3785616"/>
              <a:ext cx="7315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6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F3D1C726-E12A-35D7-BC69-8D338D6DDFF8}"/>
              </a:ext>
            </a:extLst>
          </p:cNvPr>
          <p:cNvGrpSpPr/>
          <p:nvPr/>
        </p:nvGrpSpPr>
        <p:grpSpPr>
          <a:xfrm>
            <a:off x="4969519" y="2152365"/>
            <a:ext cx="1080000" cy="559938"/>
            <a:chOff x="3822192" y="2021586"/>
            <a:chExt cx="1527048" cy="559938"/>
          </a:xfrm>
        </p:grpSpPr>
        <p:sp>
          <p:nvSpPr>
            <p:cNvPr id="72" name="Shape 70"/>
            <p:cNvSpPr/>
            <p:nvPr/>
          </p:nvSpPr>
          <p:spPr>
            <a:xfrm>
              <a:off x="3822192" y="2021586"/>
              <a:ext cx="1527048" cy="559938"/>
            </a:xfrm>
            <a:prstGeom prst="rect">
              <a:avLst/>
            </a:prstGeom>
            <a:solidFill>
              <a:srgbClr val="383842"/>
            </a:solidFill>
            <a:ln w="6350">
              <a:solidFill>
                <a:srgbClr val="4848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3822192" y="2021586"/>
              <a:ext cx="32004" cy="558000"/>
            </a:xfrm>
            <a:prstGeom prst="rect">
              <a:avLst/>
            </a:prstGeom>
            <a:solidFill>
              <a:srgbClr val="7B7DB8"/>
            </a:solidFill>
            <a:ln w="6350">
              <a:solidFill>
                <a:srgbClr val="7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3895344" y="2021586"/>
              <a:ext cx="1440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지식 검색</a:t>
              </a:r>
              <a:endParaRPr lang="en-US" sz="8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75" name="Shape 73"/>
            <p:cNvSpPr/>
            <p:nvPr/>
          </p:nvSpPr>
          <p:spPr>
            <a:xfrm>
              <a:off x="3881628" y="2199894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76" name="Text 74"/>
            <p:cNvSpPr/>
            <p:nvPr/>
          </p:nvSpPr>
          <p:spPr>
            <a:xfrm>
              <a:off x="3881628" y="2199894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 err="1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문서</a:t>
              </a: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</a:t>
              </a:r>
              <a:r>
                <a:rPr lang="en-US" sz="650" dirty="0" err="1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검색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77" name="Shape 75"/>
            <p:cNvSpPr/>
            <p:nvPr/>
          </p:nvSpPr>
          <p:spPr>
            <a:xfrm>
              <a:off x="3881628" y="2323338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78" name="Text 76"/>
            <p:cNvSpPr/>
            <p:nvPr/>
          </p:nvSpPr>
          <p:spPr>
            <a:xfrm>
              <a:off x="3881628" y="2323338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 err="1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문서</a:t>
              </a: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요약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71" name="Shape 75">
              <a:extLst>
                <a:ext uri="{FF2B5EF4-FFF2-40B4-BE49-F238E27FC236}">
                  <a16:creationId xmlns:a16="http://schemas.microsoft.com/office/drawing/2014/main" id="{74932C47-E20C-62BC-BAE9-1532A47064D2}"/>
                </a:ext>
              </a:extLst>
            </p:cNvPr>
            <p:cNvSpPr/>
            <p:nvPr/>
          </p:nvSpPr>
          <p:spPr>
            <a:xfrm>
              <a:off x="3881628" y="2451456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72" name="Text 76">
              <a:extLst>
                <a:ext uri="{FF2B5EF4-FFF2-40B4-BE49-F238E27FC236}">
                  <a16:creationId xmlns:a16="http://schemas.microsoft.com/office/drawing/2014/main" id="{A2B6FED1-CF17-1A0A-222A-7F4CC64A08E1}"/>
                </a:ext>
              </a:extLst>
            </p:cNvPr>
            <p:cNvSpPr/>
            <p:nvPr/>
          </p:nvSpPr>
          <p:spPr>
            <a:xfrm>
              <a:off x="3881628" y="2453640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…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E0A2AFF3-0C8E-3A97-B97C-EE54F0E26A0A}"/>
              </a:ext>
            </a:extLst>
          </p:cNvPr>
          <p:cNvGrpSpPr/>
          <p:nvPr/>
        </p:nvGrpSpPr>
        <p:grpSpPr>
          <a:xfrm>
            <a:off x="2494789" y="2152365"/>
            <a:ext cx="1080000" cy="690576"/>
            <a:chOff x="1897380" y="1193088"/>
            <a:chExt cx="1527048" cy="690576"/>
          </a:xfrm>
        </p:grpSpPr>
        <p:sp>
          <p:nvSpPr>
            <p:cNvPr id="191" name="Shape 77">
              <a:extLst>
                <a:ext uri="{FF2B5EF4-FFF2-40B4-BE49-F238E27FC236}">
                  <a16:creationId xmlns:a16="http://schemas.microsoft.com/office/drawing/2014/main" id="{6B1E072D-3864-0FCC-83CD-D4A2A5E0AB58}"/>
                </a:ext>
              </a:extLst>
            </p:cNvPr>
            <p:cNvSpPr/>
            <p:nvPr/>
          </p:nvSpPr>
          <p:spPr>
            <a:xfrm>
              <a:off x="1897380" y="1193088"/>
              <a:ext cx="1527048" cy="690576"/>
            </a:xfrm>
            <a:prstGeom prst="rect">
              <a:avLst/>
            </a:prstGeom>
            <a:solidFill>
              <a:srgbClr val="383842"/>
            </a:solidFill>
            <a:ln w="6350">
              <a:solidFill>
                <a:srgbClr val="4848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2" name="Shape 78">
              <a:extLst>
                <a:ext uri="{FF2B5EF4-FFF2-40B4-BE49-F238E27FC236}">
                  <a16:creationId xmlns:a16="http://schemas.microsoft.com/office/drawing/2014/main" id="{9916DBB9-3125-A374-71D9-5B01ADFCA01D}"/>
                </a:ext>
              </a:extLst>
            </p:cNvPr>
            <p:cNvSpPr/>
            <p:nvPr/>
          </p:nvSpPr>
          <p:spPr>
            <a:xfrm>
              <a:off x="1897380" y="1193088"/>
              <a:ext cx="32004" cy="684000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7030A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3" name="Text 79">
              <a:extLst>
                <a:ext uri="{FF2B5EF4-FFF2-40B4-BE49-F238E27FC236}">
                  <a16:creationId xmlns:a16="http://schemas.microsoft.com/office/drawing/2014/main" id="{726D5F60-DAB2-85EF-A726-A9C272B8EE29}"/>
                </a:ext>
              </a:extLst>
            </p:cNvPr>
            <p:cNvSpPr/>
            <p:nvPr/>
          </p:nvSpPr>
          <p:spPr>
            <a:xfrm>
              <a:off x="1970532" y="1193088"/>
              <a:ext cx="1440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In</a:t>
              </a:r>
              <a:endParaRPr lang="en-US" sz="8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4" name="Shape 80">
              <a:extLst>
                <a:ext uri="{FF2B5EF4-FFF2-40B4-BE49-F238E27FC236}">
                  <a16:creationId xmlns:a16="http://schemas.microsoft.com/office/drawing/2014/main" id="{75EA4CA2-4367-57FE-E4EB-26ADC77D7617}"/>
                </a:ext>
              </a:extLst>
            </p:cNvPr>
            <p:cNvSpPr/>
            <p:nvPr/>
          </p:nvSpPr>
          <p:spPr>
            <a:xfrm>
              <a:off x="1956816" y="1371396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5" name="Text 81">
              <a:extLst>
                <a:ext uri="{FF2B5EF4-FFF2-40B4-BE49-F238E27FC236}">
                  <a16:creationId xmlns:a16="http://schemas.microsoft.com/office/drawing/2014/main" id="{FF12248C-F8A8-10F2-5349-F5DAB64CD6B2}"/>
                </a:ext>
              </a:extLst>
            </p:cNvPr>
            <p:cNvSpPr/>
            <p:nvPr/>
          </p:nvSpPr>
          <p:spPr>
            <a:xfrm>
              <a:off x="1956816" y="1371396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의도 분석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6" name="Shape 82">
              <a:extLst>
                <a:ext uri="{FF2B5EF4-FFF2-40B4-BE49-F238E27FC236}">
                  <a16:creationId xmlns:a16="http://schemas.microsoft.com/office/drawing/2014/main" id="{DD2DE823-1924-C004-9D01-78F881851CFA}"/>
                </a:ext>
              </a:extLst>
            </p:cNvPr>
            <p:cNvSpPr/>
            <p:nvPr/>
          </p:nvSpPr>
          <p:spPr>
            <a:xfrm>
              <a:off x="1956816" y="1494840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7" name="Text 83">
              <a:extLst>
                <a:ext uri="{FF2B5EF4-FFF2-40B4-BE49-F238E27FC236}">
                  <a16:creationId xmlns:a16="http://schemas.microsoft.com/office/drawing/2014/main" id="{44446860-15CE-B18B-ED41-502A59017469}"/>
                </a:ext>
              </a:extLst>
            </p:cNvPr>
            <p:cNvSpPr/>
            <p:nvPr/>
          </p:nvSpPr>
          <p:spPr>
            <a:xfrm>
              <a:off x="1956816" y="1494840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Query 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생성 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8" name="Shape 84">
              <a:extLst>
                <a:ext uri="{FF2B5EF4-FFF2-40B4-BE49-F238E27FC236}">
                  <a16:creationId xmlns:a16="http://schemas.microsoft.com/office/drawing/2014/main" id="{7F34ED8A-0F90-CE0A-97D0-6E51F1A23013}"/>
                </a:ext>
              </a:extLst>
            </p:cNvPr>
            <p:cNvSpPr/>
            <p:nvPr/>
          </p:nvSpPr>
          <p:spPr>
            <a:xfrm>
              <a:off x="1956816" y="1618284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199" name="Text 85">
              <a:extLst>
                <a:ext uri="{FF2B5EF4-FFF2-40B4-BE49-F238E27FC236}">
                  <a16:creationId xmlns:a16="http://schemas.microsoft.com/office/drawing/2014/main" id="{81C5EA3B-42F8-5D7D-FF1F-CF68DBB67C20}"/>
                </a:ext>
              </a:extLst>
            </p:cNvPr>
            <p:cNvSpPr/>
            <p:nvPr/>
          </p:nvSpPr>
          <p:spPr>
            <a:xfrm>
              <a:off x="1956816" y="1618284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STT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00" name="Shape 86">
              <a:extLst>
                <a:ext uri="{FF2B5EF4-FFF2-40B4-BE49-F238E27FC236}">
                  <a16:creationId xmlns:a16="http://schemas.microsoft.com/office/drawing/2014/main" id="{4FB22D7C-D0A3-810A-88CB-3E372F276FB6}"/>
                </a:ext>
              </a:extLst>
            </p:cNvPr>
            <p:cNvSpPr/>
            <p:nvPr/>
          </p:nvSpPr>
          <p:spPr>
            <a:xfrm>
              <a:off x="1956816" y="1741728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01" name="Text 87">
              <a:extLst>
                <a:ext uri="{FF2B5EF4-FFF2-40B4-BE49-F238E27FC236}">
                  <a16:creationId xmlns:a16="http://schemas.microsoft.com/office/drawing/2014/main" id="{B4149B3B-F1F3-E469-2E8F-D487EE008A75}"/>
                </a:ext>
              </a:extLst>
            </p:cNvPr>
            <p:cNvSpPr/>
            <p:nvPr/>
          </p:nvSpPr>
          <p:spPr>
            <a:xfrm>
              <a:off x="1956816" y="1741728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…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DD1950D0-1238-1680-FA2E-7CC9AB2D1DFE}"/>
              </a:ext>
            </a:extLst>
          </p:cNvPr>
          <p:cNvGrpSpPr/>
          <p:nvPr/>
        </p:nvGrpSpPr>
        <p:grpSpPr>
          <a:xfrm>
            <a:off x="3845545" y="2152365"/>
            <a:ext cx="1080000" cy="685800"/>
            <a:chOff x="3822192" y="3602736"/>
            <a:chExt cx="1527048" cy="685800"/>
          </a:xfrm>
        </p:grpSpPr>
        <p:sp>
          <p:nvSpPr>
            <p:cNvPr id="207" name="Shape 92">
              <a:extLst>
                <a:ext uri="{FF2B5EF4-FFF2-40B4-BE49-F238E27FC236}">
                  <a16:creationId xmlns:a16="http://schemas.microsoft.com/office/drawing/2014/main" id="{F74F2089-513E-2FAB-667B-E0D0F52CD28A}"/>
                </a:ext>
              </a:extLst>
            </p:cNvPr>
            <p:cNvSpPr/>
            <p:nvPr/>
          </p:nvSpPr>
          <p:spPr>
            <a:xfrm>
              <a:off x="3822192" y="3602736"/>
              <a:ext cx="1527048" cy="685800"/>
            </a:xfrm>
            <a:prstGeom prst="rect">
              <a:avLst/>
            </a:prstGeom>
            <a:solidFill>
              <a:srgbClr val="383842"/>
            </a:solidFill>
            <a:ln w="6350">
              <a:solidFill>
                <a:srgbClr val="4848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08" name="Shape 93">
              <a:extLst>
                <a:ext uri="{FF2B5EF4-FFF2-40B4-BE49-F238E27FC236}">
                  <a16:creationId xmlns:a16="http://schemas.microsoft.com/office/drawing/2014/main" id="{ACBC8168-D253-303E-7947-969D9265B23D}"/>
                </a:ext>
              </a:extLst>
            </p:cNvPr>
            <p:cNvSpPr/>
            <p:nvPr/>
          </p:nvSpPr>
          <p:spPr>
            <a:xfrm>
              <a:off x="3822192" y="3602736"/>
              <a:ext cx="32004" cy="6858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09" name="Text 94">
              <a:extLst>
                <a:ext uri="{FF2B5EF4-FFF2-40B4-BE49-F238E27FC236}">
                  <a16:creationId xmlns:a16="http://schemas.microsoft.com/office/drawing/2014/main" id="{79A2BAA4-E6FA-0C0F-98ED-D905818B7157}"/>
                </a:ext>
              </a:extLst>
            </p:cNvPr>
            <p:cNvSpPr/>
            <p:nvPr/>
          </p:nvSpPr>
          <p:spPr>
            <a:xfrm>
              <a:off x="3895344" y="3602736"/>
              <a:ext cx="1440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800" b="1">
                  <a:solidFill>
                    <a:srgbClr val="FFFFF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일정</a:t>
              </a:r>
              <a:endParaRPr lang="en-US" sz="8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0" name="Shape 95">
              <a:extLst>
                <a:ext uri="{FF2B5EF4-FFF2-40B4-BE49-F238E27FC236}">
                  <a16:creationId xmlns:a16="http://schemas.microsoft.com/office/drawing/2014/main" id="{9F00C187-6A5F-AD71-C3FF-BCD19FD42ECE}"/>
                </a:ext>
              </a:extLst>
            </p:cNvPr>
            <p:cNvSpPr/>
            <p:nvPr/>
          </p:nvSpPr>
          <p:spPr>
            <a:xfrm>
              <a:off x="3881628" y="3781044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1" name="Text 96">
              <a:extLst>
                <a:ext uri="{FF2B5EF4-FFF2-40B4-BE49-F238E27FC236}">
                  <a16:creationId xmlns:a16="http://schemas.microsoft.com/office/drawing/2014/main" id="{152A831F-9160-31D5-82D8-397D1B0398C0}"/>
                </a:ext>
              </a:extLst>
            </p:cNvPr>
            <p:cNvSpPr/>
            <p:nvPr/>
          </p:nvSpPr>
          <p:spPr>
            <a:xfrm>
              <a:off x="3881628" y="3781044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업무 현황 조회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2" name="Shape 97">
              <a:extLst>
                <a:ext uri="{FF2B5EF4-FFF2-40B4-BE49-F238E27FC236}">
                  <a16:creationId xmlns:a16="http://schemas.microsoft.com/office/drawing/2014/main" id="{F35A7B2E-2532-3D56-067E-665A6A6265E6}"/>
                </a:ext>
              </a:extLst>
            </p:cNvPr>
            <p:cNvSpPr/>
            <p:nvPr/>
          </p:nvSpPr>
          <p:spPr>
            <a:xfrm>
              <a:off x="3881628" y="3904488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3" name="Text 98">
              <a:extLst>
                <a:ext uri="{FF2B5EF4-FFF2-40B4-BE49-F238E27FC236}">
                  <a16:creationId xmlns:a16="http://schemas.microsoft.com/office/drawing/2014/main" id="{525438BE-9E01-FC07-727F-85BBAA08D26C}"/>
                </a:ext>
              </a:extLst>
            </p:cNvPr>
            <p:cNvSpPr/>
            <p:nvPr/>
          </p:nvSpPr>
          <p:spPr>
            <a:xfrm>
              <a:off x="3881628" y="3904488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지연 조회 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4" name="Shape 99">
              <a:extLst>
                <a:ext uri="{FF2B5EF4-FFF2-40B4-BE49-F238E27FC236}">
                  <a16:creationId xmlns:a16="http://schemas.microsoft.com/office/drawing/2014/main" id="{D804FB61-999B-9B0F-A3E9-BD4B0FF03CC8}"/>
                </a:ext>
              </a:extLst>
            </p:cNvPr>
            <p:cNvSpPr/>
            <p:nvPr/>
          </p:nvSpPr>
          <p:spPr>
            <a:xfrm>
              <a:off x="3881628" y="4027932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5" name="Text 100">
              <a:extLst>
                <a:ext uri="{FF2B5EF4-FFF2-40B4-BE49-F238E27FC236}">
                  <a16:creationId xmlns:a16="http://schemas.microsoft.com/office/drawing/2014/main" id="{AFF16578-C243-7C2A-10DE-739B64CAF47E}"/>
                </a:ext>
              </a:extLst>
            </p:cNvPr>
            <p:cNvSpPr/>
            <p:nvPr/>
          </p:nvSpPr>
          <p:spPr>
            <a:xfrm>
              <a:off x="3881628" y="4027932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Task </a:t>
              </a: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생성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6" name="Shape 101">
              <a:extLst>
                <a:ext uri="{FF2B5EF4-FFF2-40B4-BE49-F238E27FC236}">
                  <a16:creationId xmlns:a16="http://schemas.microsoft.com/office/drawing/2014/main" id="{B3DC444E-361C-935A-C810-BC199AAA9967}"/>
                </a:ext>
              </a:extLst>
            </p:cNvPr>
            <p:cNvSpPr/>
            <p:nvPr/>
          </p:nvSpPr>
          <p:spPr>
            <a:xfrm>
              <a:off x="3881628" y="4151376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17" name="Text 102">
              <a:extLst>
                <a:ext uri="{FF2B5EF4-FFF2-40B4-BE49-F238E27FC236}">
                  <a16:creationId xmlns:a16="http://schemas.microsoft.com/office/drawing/2014/main" id="{9693B5DD-B312-AE20-EF21-23D214A5E722}"/>
                </a:ext>
              </a:extLst>
            </p:cNvPr>
            <p:cNvSpPr/>
            <p:nvPr/>
          </p:nvSpPr>
          <p:spPr>
            <a:xfrm>
              <a:off x="3881628" y="4151376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…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995ADC02-AACB-3998-E2F1-FAE229BAC86A}"/>
              </a:ext>
            </a:extLst>
          </p:cNvPr>
          <p:cNvGrpSpPr/>
          <p:nvPr/>
        </p:nvGrpSpPr>
        <p:grpSpPr>
          <a:xfrm>
            <a:off x="2494789" y="2870148"/>
            <a:ext cx="1080000" cy="690576"/>
            <a:chOff x="1897380" y="1193088"/>
            <a:chExt cx="1527048" cy="690576"/>
          </a:xfrm>
        </p:grpSpPr>
        <p:sp>
          <p:nvSpPr>
            <p:cNvPr id="220" name="Shape 77">
              <a:extLst>
                <a:ext uri="{FF2B5EF4-FFF2-40B4-BE49-F238E27FC236}">
                  <a16:creationId xmlns:a16="http://schemas.microsoft.com/office/drawing/2014/main" id="{C07991FA-488D-05D6-0C7C-2EF2AA1762B0}"/>
                </a:ext>
              </a:extLst>
            </p:cNvPr>
            <p:cNvSpPr/>
            <p:nvPr/>
          </p:nvSpPr>
          <p:spPr>
            <a:xfrm>
              <a:off x="1897380" y="1193088"/>
              <a:ext cx="1527048" cy="690576"/>
            </a:xfrm>
            <a:prstGeom prst="rect">
              <a:avLst/>
            </a:prstGeom>
            <a:solidFill>
              <a:srgbClr val="383842"/>
            </a:solidFill>
            <a:ln w="6350">
              <a:solidFill>
                <a:srgbClr val="48485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1" name="Shape 78">
              <a:extLst>
                <a:ext uri="{FF2B5EF4-FFF2-40B4-BE49-F238E27FC236}">
                  <a16:creationId xmlns:a16="http://schemas.microsoft.com/office/drawing/2014/main" id="{8979AC53-CAF3-ED2B-57F2-910E2A868E83}"/>
                </a:ext>
              </a:extLst>
            </p:cNvPr>
            <p:cNvSpPr/>
            <p:nvPr/>
          </p:nvSpPr>
          <p:spPr>
            <a:xfrm>
              <a:off x="1897380" y="1193088"/>
              <a:ext cx="32004" cy="684000"/>
            </a:xfrm>
            <a:prstGeom prst="rect">
              <a:avLst/>
            </a:prstGeom>
            <a:solidFill>
              <a:schemeClr val="accent2"/>
            </a:solidFill>
            <a:ln w="6350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2" name="Text 79">
              <a:extLst>
                <a:ext uri="{FF2B5EF4-FFF2-40B4-BE49-F238E27FC236}">
                  <a16:creationId xmlns:a16="http://schemas.microsoft.com/office/drawing/2014/main" id="{5623C3AE-3953-D9B7-FDFD-10F1CCDB85BD}"/>
                </a:ext>
              </a:extLst>
            </p:cNvPr>
            <p:cNvSpPr/>
            <p:nvPr/>
          </p:nvSpPr>
          <p:spPr>
            <a:xfrm>
              <a:off x="1970532" y="1193088"/>
              <a:ext cx="1440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Out</a:t>
              </a:r>
              <a:endParaRPr lang="en-US" sz="80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3" name="Shape 80">
              <a:extLst>
                <a:ext uri="{FF2B5EF4-FFF2-40B4-BE49-F238E27FC236}">
                  <a16:creationId xmlns:a16="http://schemas.microsoft.com/office/drawing/2014/main" id="{D6CDCCE6-D1D0-58B8-2BBC-55A96D5AE409}"/>
                </a:ext>
              </a:extLst>
            </p:cNvPr>
            <p:cNvSpPr/>
            <p:nvPr/>
          </p:nvSpPr>
          <p:spPr>
            <a:xfrm>
              <a:off x="1956816" y="1371396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4" name="Text 81">
              <a:extLst>
                <a:ext uri="{FF2B5EF4-FFF2-40B4-BE49-F238E27FC236}">
                  <a16:creationId xmlns:a16="http://schemas.microsoft.com/office/drawing/2014/main" id="{4352355E-9C4B-6FB4-F5CA-EC11687C8904}"/>
                </a:ext>
              </a:extLst>
            </p:cNvPr>
            <p:cNvSpPr/>
            <p:nvPr/>
          </p:nvSpPr>
          <p:spPr>
            <a:xfrm>
              <a:off x="1956816" y="1371396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응답 생성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5" name="Shape 82">
              <a:extLst>
                <a:ext uri="{FF2B5EF4-FFF2-40B4-BE49-F238E27FC236}">
                  <a16:creationId xmlns:a16="http://schemas.microsoft.com/office/drawing/2014/main" id="{48785CB2-9A46-21BE-F355-615FBFA3C695}"/>
                </a:ext>
              </a:extLst>
            </p:cNvPr>
            <p:cNvSpPr/>
            <p:nvPr/>
          </p:nvSpPr>
          <p:spPr>
            <a:xfrm>
              <a:off x="1956816" y="1494840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6" name="Text 83">
              <a:extLst>
                <a:ext uri="{FF2B5EF4-FFF2-40B4-BE49-F238E27FC236}">
                  <a16:creationId xmlns:a16="http://schemas.microsoft.com/office/drawing/2014/main" id="{6EFBEE6F-0329-5F54-378C-52EC3B5095A4}"/>
                </a:ext>
              </a:extLst>
            </p:cNvPr>
            <p:cNvSpPr/>
            <p:nvPr/>
          </p:nvSpPr>
          <p:spPr>
            <a:xfrm>
              <a:off x="1956816" y="1494840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보고서 생성 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7" name="Shape 84">
              <a:extLst>
                <a:ext uri="{FF2B5EF4-FFF2-40B4-BE49-F238E27FC236}">
                  <a16:creationId xmlns:a16="http://schemas.microsoft.com/office/drawing/2014/main" id="{192C0302-B60F-AF0C-64FD-82B3E45ACA55}"/>
                </a:ext>
              </a:extLst>
            </p:cNvPr>
            <p:cNvSpPr/>
            <p:nvPr/>
          </p:nvSpPr>
          <p:spPr>
            <a:xfrm>
              <a:off x="1956816" y="1618284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8" name="Text 85">
              <a:extLst>
                <a:ext uri="{FF2B5EF4-FFF2-40B4-BE49-F238E27FC236}">
                  <a16:creationId xmlns:a16="http://schemas.microsoft.com/office/drawing/2014/main" id="{4D494993-88F5-B63F-ABB2-2808A2C03F9B}"/>
                </a:ext>
              </a:extLst>
            </p:cNvPr>
            <p:cNvSpPr/>
            <p:nvPr/>
          </p:nvSpPr>
          <p:spPr>
            <a:xfrm>
              <a:off x="1956816" y="1618284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65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외부 툴 호출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29" name="Shape 86">
              <a:extLst>
                <a:ext uri="{FF2B5EF4-FFF2-40B4-BE49-F238E27FC236}">
                  <a16:creationId xmlns:a16="http://schemas.microsoft.com/office/drawing/2014/main" id="{1A61B185-27B4-A6EF-6934-C0D339277BEA}"/>
                </a:ext>
              </a:extLst>
            </p:cNvPr>
            <p:cNvSpPr/>
            <p:nvPr/>
          </p:nvSpPr>
          <p:spPr>
            <a:xfrm>
              <a:off x="1956816" y="1741728"/>
              <a:ext cx="1440000" cy="108000"/>
            </a:xfrm>
            <a:prstGeom prst="rect">
              <a:avLst/>
            </a:prstGeom>
            <a:solidFill>
              <a:srgbClr val="3C3C48"/>
            </a:solidFill>
            <a:ln w="6350">
              <a:solidFill>
                <a:srgbClr val="5050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30" name="Text 87">
              <a:extLst>
                <a:ext uri="{FF2B5EF4-FFF2-40B4-BE49-F238E27FC236}">
                  <a16:creationId xmlns:a16="http://schemas.microsoft.com/office/drawing/2014/main" id="{1B7624ED-F94B-593B-F6E5-DBB5B944635B}"/>
                </a:ext>
              </a:extLst>
            </p:cNvPr>
            <p:cNvSpPr/>
            <p:nvPr/>
          </p:nvSpPr>
          <p:spPr>
            <a:xfrm>
              <a:off x="1956816" y="1741728"/>
              <a:ext cx="1440000" cy="108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dirty="0">
                  <a:solidFill>
                    <a:srgbClr val="D2D4DC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…</a:t>
              </a:r>
              <a:endParaRPr lang="en-US" sz="6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CB6405D2-4756-3937-A56B-228A53F551EE}"/>
              </a:ext>
            </a:extLst>
          </p:cNvPr>
          <p:cNvGrpSpPr/>
          <p:nvPr/>
        </p:nvGrpSpPr>
        <p:grpSpPr>
          <a:xfrm>
            <a:off x="6894576" y="2086560"/>
            <a:ext cx="1097280" cy="702000"/>
            <a:chOff x="502920" y="859536"/>
            <a:chExt cx="1097280" cy="702000"/>
          </a:xfrm>
        </p:grpSpPr>
        <p:sp>
          <p:nvSpPr>
            <p:cNvPr id="237" name="Shape 5">
              <a:extLst>
                <a:ext uri="{FF2B5EF4-FFF2-40B4-BE49-F238E27FC236}">
                  <a16:creationId xmlns:a16="http://schemas.microsoft.com/office/drawing/2014/main" id="{FAC1F767-9844-1984-6795-CC53F3E30A5B}"/>
                </a:ext>
              </a:extLst>
            </p:cNvPr>
            <p:cNvSpPr/>
            <p:nvPr/>
          </p:nvSpPr>
          <p:spPr>
            <a:xfrm>
              <a:off x="502920" y="859536"/>
              <a:ext cx="1097280" cy="70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38" name="Shape 6">
              <a:extLst>
                <a:ext uri="{FF2B5EF4-FFF2-40B4-BE49-F238E27FC236}">
                  <a16:creationId xmlns:a16="http://schemas.microsoft.com/office/drawing/2014/main" id="{54FFED14-07B2-04EA-84FC-8BDE6FEC26B9}"/>
                </a:ext>
              </a:extLst>
            </p:cNvPr>
            <p:cNvSpPr/>
            <p:nvPr/>
          </p:nvSpPr>
          <p:spPr>
            <a:xfrm>
              <a:off x="502920" y="859536"/>
              <a:ext cx="36576" cy="702000"/>
            </a:xfrm>
            <a:prstGeom prst="rect">
              <a:avLst/>
            </a:prstGeom>
            <a:solidFill>
              <a:srgbClr val="5B7DB8"/>
            </a:solidFill>
            <a:ln w="6350">
              <a:solidFill>
                <a:srgbClr val="5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39" name="Shape 7">
              <a:extLst>
                <a:ext uri="{FF2B5EF4-FFF2-40B4-BE49-F238E27FC236}">
                  <a16:creationId xmlns:a16="http://schemas.microsoft.com/office/drawing/2014/main" id="{21422578-9A0B-BEB7-D1C4-EA78699BA1C2}"/>
                </a:ext>
              </a:extLst>
            </p:cNvPr>
            <p:cNvSpPr/>
            <p:nvPr/>
          </p:nvSpPr>
          <p:spPr>
            <a:xfrm>
              <a:off x="502920" y="859536"/>
              <a:ext cx="1097280" cy="201168"/>
            </a:xfrm>
            <a:prstGeom prst="rect">
              <a:avLst/>
            </a:prstGeom>
            <a:solidFill>
              <a:srgbClr val="E6E6EA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0" name="Shape 8">
              <a:extLst>
                <a:ext uri="{FF2B5EF4-FFF2-40B4-BE49-F238E27FC236}">
                  <a16:creationId xmlns:a16="http://schemas.microsoft.com/office/drawing/2014/main" id="{1DF6AA6F-07A7-D75E-CDA6-DAAABF587525}"/>
                </a:ext>
              </a:extLst>
            </p:cNvPr>
            <p:cNvSpPr/>
            <p:nvPr/>
          </p:nvSpPr>
          <p:spPr>
            <a:xfrm>
              <a:off x="502920" y="859536"/>
              <a:ext cx="36576" cy="201168"/>
            </a:xfrm>
            <a:prstGeom prst="rect">
              <a:avLst/>
            </a:prstGeom>
            <a:solidFill>
              <a:srgbClr val="5B7DB8"/>
            </a:solidFill>
            <a:ln w="6350">
              <a:solidFill>
                <a:srgbClr val="5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1" name="Text 9">
              <a:extLst>
                <a:ext uri="{FF2B5EF4-FFF2-40B4-BE49-F238E27FC236}">
                  <a16:creationId xmlns:a16="http://schemas.microsoft.com/office/drawing/2014/main" id="{5AB08617-9873-C62D-0CC0-47426373303E}"/>
                </a:ext>
              </a:extLst>
            </p:cNvPr>
            <p:cNvSpPr/>
            <p:nvPr/>
          </p:nvSpPr>
          <p:spPr>
            <a:xfrm>
              <a:off x="594360" y="859536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 dirty="0">
                  <a:solidFill>
                    <a:srgbClr val="2A2A32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Confluence</a:t>
              </a:r>
              <a:endParaRPr lang="en-US" sz="8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2" name="Shape 10">
              <a:extLst>
                <a:ext uri="{FF2B5EF4-FFF2-40B4-BE49-F238E27FC236}">
                  <a16:creationId xmlns:a16="http://schemas.microsoft.com/office/drawing/2014/main" id="{0CED7F16-B2D5-DEB6-B8E7-2B43D16E0103}"/>
                </a:ext>
              </a:extLst>
            </p:cNvPr>
            <p:cNvSpPr/>
            <p:nvPr/>
          </p:nvSpPr>
          <p:spPr>
            <a:xfrm>
              <a:off x="571500" y="1088136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3" name="Text 11">
              <a:extLst>
                <a:ext uri="{FF2B5EF4-FFF2-40B4-BE49-F238E27FC236}">
                  <a16:creationId xmlns:a16="http://schemas.microsoft.com/office/drawing/2014/main" id="{68E35E8E-771D-994A-0883-A7E263E429C8}"/>
                </a:ext>
              </a:extLst>
            </p:cNvPr>
            <p:cNvSpPr/>
            <p:nvPr/>
          </p:nvSpPr>
          <p:spPr>
            <a:xfrm>
              <a:off x="571500" y="1088136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문서 검색 </a:t>
              </a:r>
              <a:r>
                <a:rPr lang="en-US" altLang="ko-KR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(RAG)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4" name="Shape 12">
              <a:extLst>
                <a:ext uri="{FF2B5EF4-FFF2-40B4-BE49-F238E27FC236}">
                  <a16:creationId xmlns:a16="http://schemas.microsoft.com/office/drawing/2014/main" id="{A87036E2-6D3F-F498-36FA-11BC32578F66}"/>
                </a:ext>
              </a:extLst>
            </p:cNvPr>
            <p:cNvSpPr/>
            <p:nvPr/>
          </p:nvSpPr>
          <p:spPr>
            <a:xfrm>
              <a:off x="571500" y="1243584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5" name="Text 13">
              <a:extLst>
                <a:ext uri="{FF2B5EF4-FFF2-40B4-BE49-F238E27FC236}">
                  <a16:creationId xmlns:a16="http://schemas.microsoft.com/office/drawing/2014/main" id="{BB821DD5-492E-7C1A-E08B-D083A18DAC4A}"/>
                </a:ext>
              </a:extLst>
            </p:cNvPr>
            <p:cNvSpPr/>
            <p:nvPr/>
          </p:nvSpPr>
          <p:spPr>
            <a:xfrm>
              <a:off x="571500" y="1243584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변경 내용 추적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6" name="Shape 14">
              <a:extLst>
                <a:ext uri="{FF2B5EF4-FFF2-40B4-BE49-F238E27FC236}">
                  <a16:creationId xmlns:a16="http://schemas.microsoft.com/office/drawing/2014/main" id="{D7C95EFF-78A5-247B-11C9-6DCE08EF89FB}"/>
                </a:ext>
              </a:extLst>
            </p:cNvPr>
            <p:cNvSpPr/>
            <p:nvPr/>
          </p:nvSpPr>
          <p:spPr>
            <a:xfrm>
              <a:off x="571500" y="1399032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47" name="Text 15">
              <a:extLst>
                <a:ext uri="{FF2B5EF4-FFF2-40B4-BE49-F238E27FC236}">
                  <a16:creationId xmlns:a16="http://schemas.microsoft.com/office/drawing/2014/main" id="{2286A7EF-7913-3888-AD14-8719B5A09E12}"/>
                </a:ext>
              </a:extLst>
            </p:cNvPr>
            <p:cNvSpPr/>
            <p:nvPr/>
          </p:nvSpPr>
          <p:spPr>
            <a:xfrm>
              <a:off x="571500" y="1399032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…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78E2C58E-CF80-35F8-C551-7AF1CFFAC00D}"/>
              </a:ext>
            </a:extLst>
          </p:cNvPr>
          <p:cNvGrpSpPr/>
          <p:nvPr/>
        </p:nvGrpSpPr>
        <p:grpSpPr>
          <a:xfrm>
            <a:off x="6894576" y="1289710"/>
            <a:ext cx="1097280" cy="702000"/>
            <a:chOff x="502920" y="859536"/>
            <a:chExt cx="1097280" cy="702000"/>
          </a:xfrm>
        </p:grpSpPr>
        <p:sp>
          <p:nvSpPr>
            <p:cNvPr id="249" name="Shape 5">
              <a:extLst>
                <a:ext uri="{FF2B5EF4-FFF2-40B4-BE49-F238E27FC236}">
                  <a16:creationId xmlns:a16="http://schemas.microsoft.com/office/drawing/2014/main" id="{9641F402-3AB4-28D7-248B-77D9DABA06EE}"/>
                </a:ext>
              </a:extLst>
            </p:cNvPr>
            <p:cNvSpPr/>
            <p:nvPr/>
          </p:nvSpPr>
          <p:spPr>
            <a:xfrm>
              <a:off x="502920" y="859536"/>
              <a:ext cx="1097280" cy="702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0" name="Shape 6">
              <a:extLst>
                <a:ext uri="{FF2B5EF4-FFF2-40B4-BE49-F238E27FC236}">
                  <a16:creationId xmlns:a16="http://schemas.microsoft.com/office/drawing/2014/main" id="{5D3AD4C2-7A05-B2BA-7EC2-2B5E0993F430}"/>
                </a:ext>
              </a:extLst>
            </p:cNvPr>
            <p:cNvSpPr/>
            <p:nvPr/>
          </p:nvSpPr>
          <p:spPr>
            <a:xfrm>
              <a:off x="502920" y="859536"/>
              <a:ext cx="36576" cy="702000"/>
            </a:xfrm>
            <a:prstGeom prst="rect">
              <a:avLst/>
            </a:prstGeom>
            <a:solidFill>
              <a:srgbClr val="5B7DB8"/>
            </a:solidFill>
            <a:ln w="6350">
              <a:solidFill>
                <a:srgbClr val="5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1" name="Shape 7">
              <a:extLst>
                <a:ext uri="{FF2B5EF4-FFF2-40B4-BE49-F238E27FC236}">
                  <a16:creationId xmlns:a16="http://schemas.microsoft.com/office/drawing/2014/main" id="{C0183F63-ED95-5A3E-170F-C8F63964EB8F}"/>
                </a:ext>
              </a:extLst>
            </p:cNvPr>
            <p:cNvSpPr/>
            <p:nvPr/>
          </p:nvSpPr>
          <p:spPr>
            <a:xfrm>
              <a:off x="502920" y="859536"/>
              <a:ext cx="1097280" cy="201168"/>
            </a:xfrm>
            <a:prstGeom prst="rect">
              <a:avLst/>
            </a:prstGeom>
            <a:solidFill>
              <a:srgbClr val="E6E6EA"/>
            </a:solidFill>
            <a:ln w="6350">
              <a:solidFill>
                <a:srgbClr val="C0C0C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2" name="Shape 8">
              <a:extLst>
                <a:ext uri="{FF2B5EF4-FFF2-40B4-BE49-F238E27FC236}">
                  <a16:creationId xmlns:a16="http://schemas.microsoft.com/office/drawing/2014/main" id="{0334D949-315D-CF8A-DA3B-699D717684CD}"/>
                </a:ext>
              </a:extLst>
            </p:cNvPr>
            <p:cNvSpPr/>
            <p:nvPr/>
          </p:nvSpPr>
          <p:spPr>
            <a:xfrm>
              <a:off x="502920" y="859536"/>
              <a:ext cx="36576" cy="201168"/>
            </a:xfrm>
            <a:prstGeom prst="rect">
              <a:avLst/>
            </a:prstGeom>
            <a:solidFill>
              <a:srgbClr val="5B7DB8"/>
            </a:solidFill>
            <a:ln w="6350">
              <a:solidFill>
                <a:srgbClr val="5B7DB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3" name="Text 9">
              <a:extLst>
                <a:ext uri="{FF2B5EF4-FFF2-40B4-BE49-F238E27FC236}">
                  <a16:creationId xmlns:a16="http://schemas.microsoft.com/office/drawing/2014/main" id="{7AB01365-9D21-F3C2-A185-6F851CE7D6A0}"/>
                </a:ext>
              </a:extLst>
            </p:cNvPr>
            <p:cNvSpPr/>
            <p:nvPr/>
          </p:nvSpPr>
          <p:spPr>
            <a:xfrm>
              <a:off x="594360" y="859536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 dirty="0" err="1">
                  <a:solidFill>
                    <a:srgbClr val="2A2A32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Hansoft</a:t>
              </a:r>
              <a:r>
                <a:rPr lang="en-US" sz="850" b="1" dirty="0">
                  <a:solidFill>
                    <a:srgbClr val="2A2A32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 / Jira</a:t>
              </a:r>
              <a:endParaRPr lang="en-US" sz="8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4" name="Shape 10">
              <a:extLst>
                <a:ext uri="{FF2B5EF4-FFF2-40B4-BE49-F238E27FC236}">
                  <a16:creationId xmlns:a16="http://schemas.microsoft.com/office/drawing/2014/main" id="{7D47F753-8809-CC72-E41A-BE16408BE0E0}"/>
                </a:ext>
              </a:extLst>
            </p:cNvPr>
            <p:cNvSpPr/>
            <p:nvPr/>
          </p:nvSpPr>
          <p:spPr>
            <a:xfrm>
              <a:off x="571500" y="1088136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5" name="Text 11">
              <a:extLst>
                <a:ext uri="{FF2B5EF4-FFF2-40B4-BE49-F238E27FC236}">
                  <a16:creationId xmlns:a16="http://schemas.microsoft.com/office/drawing/2014/main" id="{729B84AC-B316-B508-D77B-849B279D0135}"/>
                </a:ext>
              </a:extLst>
            </p:cNvPr>
            <p:cNvSpPr/>
            <p:nvPr/>
          </p:nvSpPr>
          <p:spPr>
            <a:xfrm>
              <a:off x="571500" y="1088136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5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Task</a:t>
              </a: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 </a:t>
              </a:r>
              <a:r>
                <a:rPr lang="en-US" altLang="ko-KR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· </a:t>
              </a: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일정 조회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6" name="Shape 12">
              <a:extLst>
                <a:ext uri="{FF2B5EF4-FFF2-40B4-BE49-F238E27FC236}">
                  <a16:creationId xmlns:a16="http://schemas.microsoft.com/office/drawing/2014/main" id="{AA39D49E-7B66-F9EC-87EC-C255602E2FDC}"/>
                </a:ext>
              </a:extLst>
            </p:cNvPr>
            <p:cNvSpPr/>
            <p:nvPr/>
          </p:nvSpPr>
          <p:spPr>
            <a:xfrm>
              <a:off x="571500" y="1243584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7" name="Text 13">
              <a:extLst>
                <a:ext uri="{FF2B5EF4-FFF2-40B4-BE49-F238E27FC236}">
                  <a16:creationId xmlns:a16="http://schemas.microsoft.com/office/drawing/2014/main" id="{F8CA10B7-ED2A-55E8-BA48-FBBC4B4E3E4A}"/>
                </a:ext>
              </a:extLst>
            </p:cNvPr>
            <p:cNvSpPr/>
            <p:nvPr/>
          </p:nvSpPr>
          <p:spPr>
            <a:xfrm>
              <a:off x="571500" y="1243584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Task</a:t>
              </a: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 생성 </a:t>
              </a:r>
              <a:r>
                <a:rPr lang="en-US" altLang="ko-KR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· </a:t>
              </a:r>
              <a:r>
                <a:rPr lang="ko-KR" alt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  <a:cs typeface="Rix락-Sans Medium" pitchFamily="34" charset="-120"/>
                </a:rPr>
                <a:t>업데이트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8" name="Shape 14">
              <a:extLst>
                <a:ext uri="{FF2B5EF4-FFF2-40B4-BE49-F238E27FC236}">
                  <a16:creationId xmlns:a16="http://schemas.microsoft.com/office/drawing/2014/main" id="{6845398E-7346-070B-1685-D18F3BED9C82}"/>
                </a:ext>
              </a:extLst>
            </p:cNvPr>
            <p:cNvSpPr/>
            <p:nvPr/>
          </p:nvSpPr>
          <p:spPr>
            <a:xfrm>
              <a:off x="571500" y="1399032"/>
              <a:ext cx="996696" cy="132588"/>
            </a:xfrm>
            <a:prstGeom prst="rect">
              <a:avLst/>
            </a:prstGeom>
            <a:solidFill>
              <a:srgbClr val="F0F0F4"/>
            </a:solidFill>
            <a:ln w="6350">
              <a:solidFill>
                <a:srgbClr val="CCCCD2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  <p:sp>
          <p:nvSpPr>
            <p:cNvPr id="259" name="Text 15">
              <a:extLst>
                <a:ext uri="{FF2B5EF4-FFF2-40B4-BE49-F238E27FC236}">
                  <a16:creationId xmlns:a16="http://schemas.microsoft.com/office/drawing/2014/main" id="{4E20A904-DAA9-E4AC-E691-769F36F3EDAF}"/>
                </a:ext>
              </a:extLst>
            </p:cNvPr>
            <p:cNvSpPr/>
            <p:nvPr/>
          </p:nvSpPr>
          <p:spPr>
            <a:xfrm>
              <a:off x="571500" y="1399032"/>
              <a:ext cx="996696" cy="132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48484F"/>
                  </a:solidFill>
                  <a:latin typeface="Rix락-Sans Medium" panose="00000600000000000000" pitchFamily="2" charset="-127"/>
                  <a:ea typeface="Rix락-Sans Medium" panose="00000600000000000000" pitchFamily="2" charset="-127"/>
                </a:rPr>
                <a:t>…</a:t>
              </a:r>
              <a:endParaRPr lang="en-US" sz="750" dirty="0">
                <a:latin typeface="Rix락-Sans Medium" panose="00000600000000000000" pitchFamily="2" charset="-127"/>
                <a:ea typeface="Rix락-Sans Medium" panose="00000600000000000000" pitchFamily="2" charset="-127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3895</TotalTime>
  <Words>118</Words>
  <Application>Microsoft Office PowerPoint</Application>
  <PresentationFormat>화면 슬라이드 쇼(16:9)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Rix락-Sans Medium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박장원B/SG 개발관리실</cp:lastModifiedBy>
  <cp:revision>11</cp:revision>
  <dcterms:created xsi:type="dcterms:W3CDTF">2026-04-10T07:28:38Z</dcterms:created>
  <dcterms:modified xsi:type="dcterms:W3CDTF">2026-04-13T00:51:06Z</dcterms:modified>
</cp:coreProperties>
</file>